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2"/>
    <p:sldId id="266" r:id="rId3"/>
    <p:sldId id="257" r:id="rId4"/>
    <p:sldId id="258" r:id="rId5"/>
    <p:sldId id="259" r:id="rId6"/>
    <p:sldId id="260" r:id="rId7"/>
    <p:sldId id="261" r:id="rId8"/>
    <p:sldId id="267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9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213614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577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Architecture Design &amp;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Layered Clean Architecture with a framework-free domain core; dependencies point inward (api → service → domain; infrastructure → domain).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Strict boundaries — </a:t>
            </a:r>
            <a:r>
              <a:rPr sz="1500" b="0">
                <a:solidFill>
                  <a:srgbClr val="333333"/>
                </a:solidFill>
              </a:rPr>
              <a:t>DTOs never leave api; JPA entities never leave infrastructure; only domain models cross layers, each via a dedicated mapper.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Read flow — </a:t>
            </a:r>
            <a:r>
              <a:rPr sz="1500" b="0">
                <a:solidFill>
                  <a:srgbClr val="333333"/>
                </a:solidFill>
              </a:rPr>
              <a:t>Entity → EntityToDomain → domain Policy → DomainToResponseDto → ResponseDto.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Dynamic filtering via JPA Specifications, composed null-safely from a PolicySearchCriteria domain object; absent filters become no-op predicates.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Display vs. stored values — </a:t>
            </a:r>
            <a:r>
              <a:rPr sz="1500" b="0">
                <a:solidFill>
                  <a:srgbClr val="333333"/>
                </a:solidFill>
              </a:rPr>
              <a:t>enums stored by constant name (ACTIVE, ACCIDENT_AND_HEALTH), surfaced as display values (Active, A&amp;H) via a WebMvcConfigurer.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Flyway owns the schema — </a:t>
            </a:r>
            <a:r>
              <a:rPr sz="1500" b="0">
                <a:solidFill>
                  <a:srgbClr val="333333"/>
                </a:solidFill>
              </a:rPr>
              <a:t>ddl-auto=validate fails fast on drift; constructor injection only keeps components immutable and unit-testable.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Contract-first — </a:t>
            </a:r>
            <a:r>
              <a:rPr sz="1500" b="0">
                <a:solidFill>
                  <a:srgbClr val="333333"/>
                </a:solidFill>
              </a:rPr>
              <a:t>OpenAPI authored up front; 250 realistic APAC policies auto-seeded into an empty database for an out-of-the-box demo.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GIT details &amp; working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 dirty="0">
                <a:solidFill>
                  <a:srgbClr val="333333"/>
                </a:solidFill>
              </a:rPr>
              <a:t>Repository — </a:t>
            </a:r>
            <a:r>
              <a:rPr lang="en-US" sz="1500" dirty="0" smtClean="0">
                <a:solidFill>
                  <a:srgbClr val="333333"/>
                </a:solidFill>
              </a:rPr>
              <a:t>https://</a:t>
            </a:r>
            <a:r>
              <a:rPr sz="1500" b="0" dirty="0" smtClean="0">
                <a:solidFill>
                  <a:srgbClr val="333333"/>
                </a:solidFill>
              </a:rPr>
              <a:t>github.com/madhurrscs/policy-overview-bff </a:t>
            </a:r>
            <a:r>
              <a:rPr sz="1500" b="0" dirty="0">
                <a:solidFill>
                  <a:srgbClr val="333333"/>
                </a:solidFill>
              </a:rPr>
              <a:t>(working branch: </a:t>
            </a:r>
            <a:r>
              <a:rPr sz="1500" b="0" dirty="0" err="1">
                <a:solidFill>
                  <a:srgbClr val="333333"/>
                </a:solidFill>
              </a:rPr>
              <a:t>dev</a:t>
            </a:r>
            <a:r>
              <a:rPr sz="1500" b="0" dirty="0">
                <a:solidFill>
                  <a:srgbClr val="333333"/>
                </a:solidFill>
              </a:rPr>
              <a:t>; PR target: main).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 dirty="0">
                <a:solidFill>
                  <a:srgbClr val="333333"/>
                </a:solidFill>
              </a:rPr>
              <a:t>Build &amp; tooling — </a:t>
            </a:r>
            <a:r>
              <a:rPr sz="1500" b="0" dirty="0">
                <a:solidFill>
                  <a:srgbClr val="333333"/>
                </a:solidFill>
              </a:rPr>
              <a:t>Java 21 (LTS), Spring Boot 3.4.5, </a:t>
            </a:r>
            <a:r>
              <a:rPr sz="1500" b="0" dirty="0" smtClean="0">
                <a:solidFill>
                  <a:srgbClr val="333333"/>
                </a:solidFill>
              </a:rPr>
              <a:t>Maven </a:t>
            </a:r>
            <a:r>
              <a:rPr sz="1500" b="0" dirty="0">
                <a:solidFill>
                  <a:srgbClr val="333333"/>
                </a:solidFill>
              </a:rPr>
              <a:t>with committed wrapper (</a:t>
            </a:r>
            <a:r>
              <a:rPr sz="1500" b="0" dirty="0" err="1">
                <a:solidFill>
                  <a:srgbClr val="333333"/>
                </a:solidFill>
              </a:rPr>
              <a:t>mvnw</a:t>
            </a:r>
            <a:r>
              <a:rPr sz="1500" b="0" dirty="0">
                <a:solidFill>
                  <a:srgbClr val="333333"/>
                </a:solidFill>
              </a:rPr>
              <a:t> / mvnw.cmd), Lombok.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 dirty="0">
                <a:solidFill>
                  <a:srgbClr val="333333"/>
                </a:solidFill>
              </a:rPr>
              <a:t>Runtime stack — </a:t>
            </a:r>
            <a:r>
              <a:rPr sz="1500" b="0" dirty="0">
                <a:solidFill>
                  <a:srgbClr val="333333"/>
                </a:solidFill>
              </a:rPr>
              <a:t>Spring Web, Data JPA, Validation, Actuator; </a:t>
            </a:r>
            <a:r>
              <a:rPr sz="1500" b="0" dirty="0" err="1">
                <a:solidFill>
                  <a:srgbClr val="333333"/>
                </a:solidFill>
              </a:rPr>
              <a:t>PostgreSQL</a:t>
            </a:r>
            <a:r>
              <a:rPr sz="1500" b="0" dirty="0">
                <a:solidFill>
                  <a:srgbClr val="333333"/>
                </a:solidFill>
              </a:rPr>
              <a:t>; Flyway migrations; </a:t>
            </a:r>
            <a:r>
              <a:rPr sz="1500" b="0" dirty="0" err="1">
                <a:solidFill>
                  <a:srgbClr val="333333"/>
                </a:solidFill>
              </a:rPr>
              <a:t>springdoc-openapi</a:t>
            </a:r>
            <a:r>
              <a:rPr sz="1500" b="0" dirty="0">
                <a:solidFill>
                  <a:srgbClr val="333333"/>
                </a:solidFill>
              </a:rPr>
              <a:t> (Swagger UI).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 dirty="0">
                <a:solidFill>
                  <a:srgbClr val="333333"/>
                </a:solidFill>
              </a:rPr>
              <a:t>Local platform — </a:t>
            </a:r>
            <a:r>
              <a:rPr sz="1500" b="0" dirty="0" err="1">
                <a:solidFill>
                  <a:srgbClr val="333333"/>
                </a:solidFill>
              </a:rPr>
              <a:t>Docker</a:t>
            </a:r>
            <a:r>
              <a:rPr sz="1500" b="0" dirty="0">
                <a:solidFill>
                  <a:srgbClr val="333333"/>
                </a:solidFill>
              </a:rPr>
              <a:t> Compose provisions postgres:18 (</a:t>
            </a:r>
            <a:r>
              <a:rPr sz="1500" b="0" dirty="0" smtClean="0">
                <a:solidFill>
                  <a:srgbClr val="333333"/>
                </a:solidFill>
              </a:rPr>
              <a:t>database</a:t>
            </a:r>
            <a:r>
              <a:rPr lang="en-US" sz="1500" b="0" dirty="0" smtClean="0">
                <a:solidFill>
                  <a:srgbClr val="333333"/>
                </a:solidFill>
              </a:rPr>
              <a:t> :</a:t>
            </a:r>
            <a:r>
              <a:rPr sz="1500" b="0" dirty="0" smtClean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policydb</a:t>
            </a:r>
            <a:r>
              <a:rPr sz="1500" b="0" dirty="0">
                <a:solidFill>
                  <a:srgbClr val="333333"/>
                </a:solidFill>
              </a:rPr>
              <a:t>, </a:t>
            </a:r>
            <a:r>
              <a:rPr sz="1500" b="0" dirty="0" smtClean="0">
                <a:solidFill>
                  <a:srgbClr val="333333"/>
                </a:solidFill>
              </a:rPr>
              <a:t>port</a:t>
            </a:r>
            <a:r>
              <a:rPr lang="en-US" sz="1500" b="0" dirty="0" smtClean="0">
                <a:solidFill>
                  <a:srgbClr val="333333"/>
                </a:solidFill>
              </a:rPr>
              <a:t> : </a:t>
            </a:r>
            <a:r>
              <a:rPr sz="1500" b="0" dirty="0" smtClean="0">
                <a:solidFill>
                  <a:srgbClr val="333333"/>
                </a:solidFill>
              </a:rPr>
              <a:t>5432</a:t>
            </a:r>
            <a:r>
              <a:rPr sz="1500" b="0" dirty="0">
                <a:solidFill>
                  <a:srgbClr val="333333"/>
                </a:solidFill>
              </a:rPr>
              <a:t>) with a persistent volume and a </a:t>
            </a:r>
            <a:r>
              <a:rPr sz="1500" b="0" dirty="0" err="1">
                <a:solidFill>
                  <a:srgbClr val="333333"/>
                </a:solidFill>
              </a:rPr>
              <a:t>pg_isready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healthcheck</a:t>
            </a:r>
            <a:r>
              <a:rPr sz="1500" b="0" dirty="0">
                <a:solidFill>
                  <a:srgbClr val="333333"/>
                </a:solidFill>
              </a:rPr>
              <a:t>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 dirty="0">
                <a:solidFill>
                  <a:srgbClr val="333333"/>
                </a:solidFill>
              </a:rPr>
              <a:t>Run locally — </a:t>
            </a:r>
            <a:r>
              <a:rPr sz="1500" b="0" dirty="0" err="1">
                <a:solidFill>
                  <a:srgbClr val="333333"/>
                </a:solidFill>
              </a:rPr>
              <a:t>docker</a:t>
            </a:r>
            <a:r>
              <a:rPr sz="1500" b="0" dirty="0">
                <a:solidFill>
                  <a:srgbClr val="333333"/>
                </a:solidFill>
              </a:rPr>
              <a:t> compose up -d, then ./</a:t>
            </a:r>
            <a:r>
              <a:rPr sz="1500" b="0" dirty="0" err="1">
                <a:solidFill>
                  <a:srgbClr val="333333"/>
                </a:solidFill>
              </a:rPr>
              <a:t>mvnw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spring-boot:run</a:t>
            </a:r>
            <a:r>
              <a:rPr sz="1500" b="0" dirty="0">
                <a:solidFill>
                  <a:srgbClr val="333333"/>
                </a:solidFill>
              </a:rPr>
              <a:t> → http://localhost:8080 (API /</a:t>
            </a:r>
            <a:r>
              <a:rPr sz="1500" b="0" dirty="0" err="1">
                <a:solidFill>
                  <a:srgbClr val="333333"/>
                </a:solidFill>
              </a:rPr>
              <a:t>api</a:t>
            </a:r>
            <a:r>
              <a:rPr sz="1500" b="0" dirty="0">
                <a:solidFill>
                  <a:srgbClr val="333333"/>
                </a:solidFill>
              </a:rPr>
              <a:t>/v1, Swagger /swagger-ui.html).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 dirty="0">
                <a:solidFill>
                  <a:srgbClr val="333333"/>
                </a:solidFill>
              </a:rPr>
              <a:t>Configuration externalized — </a:t>
            </a:r>
            <a:r>
              <a:rPr sz="1500" b="0" dirty="0" err="1">
                <a:solidFill>
                  <a:srgbClr val="333333"/>
                </a:solidFill>
              </a:rPr>
              <a:t>datasource</a:t>
            </a:r>
            <a:r>
              <a:rPr sz="1500" b="0" dirty="0">
                <a:solidFill>
                  <a:srgbClr val="333333"/>
                </a:solidFill>
              </a:rPr>
              <a:t> via </a:t>
            </a:r>
            <a:r>
              <a:rPr sz="1500" b="0" dirty="0" err="1">
                <a:solidFill>
                  <a:srgbClr val="333333"/>
                </a:solidFill>
              </a:rPr>
              <a:t>env</a:t>
            </a:r>
            <a:r>
              <a:rPr sz="1500" b="0" dirty="0">
                <a:solidFill>
                  <a:srgbClr val="333333"/>
                </a:solidFill>
              </a:rPr>
              <a:t> </a:t>
            </a:r>
            <a:r>
              <a:rPr sz="1500" b="0" dirty="0" err="1">
                <a:solidFill>
                  <a:srgbClr val="333333"/>
                </a:solidFill>
              </a:rPr>
              <a:t>vars</a:t>
            </a:r>
            <a:r>
              <a:rPr sz="1500" b="0" dirty="0">
                <a:solidFill>
                  <a:srgbClr val="333333"/>
                </a:solidFill>
              </a:rPr>
              <a:t> (.</a:t>
            </a:r>
            <a:r>
              <a:rPr sz="1500" b="0" dirty="0" err="1">
                <a:solidFill>
                  <a:srgbClr val="333333"/>
                </a:solidFill>
              </a:rPr>
              <a:t>env</a:t>
            </a:r>
            <a:r>
              <a:rPr sz="1500" b="0" dirty="0">
                <a:solidFill>
                  <a:srgbClr val="333333"/>
                </a:solidFill>
              </a:rPr>
              <a:t> committed as .</a:t>
            </a:r>
            <a:r>
              <a:rPr sz="1500" b="0" dirty="0" err="1">
                <a:solidFill>
                  <a:srgbClr val="333333"/>
                </a:solidFill>
              </a:rPr>
              <a:t>env.example</a:t>
            </a:r>
            <a:r>
              <a:rPr sz="1500" b="0" dirty="0">
                <a:solidFill>
                  <a:srgbClr val="333333"/>
                </a:solidFill>
              </a:rPr>
              <a:t>) with safe local defaults.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 dirty="0">
                <a:solidFill>
                  <a:srgbClr val="333333"/>
                </a:solidFill>
              </a:rPr>
              <a:t>History — </a:t>
            </a:r>
            <a:r>
              <a:rPr sz="1500" b="0" dirty="0">
                <a:solidFill>
                  <a:srgbClr val="333333"/>
                </a:solidFill>
              </a:rPr>
              <a:t>7 conventional commits: </a:t>
            </a:r>
            <a:r>
              <a:rPr sz="1500" b="0" dirty="0" err="1">
                <a:solidFill>
                  <a:srgbClr val="333333"/>
                </a:solidFill>
              </a:rPr>
              <a:t>contract+schema</a:t>
            </a:r>
            <a:r>
              <a:rPr sz="1500" b="0" dirty="0">
                <a:solidFill>
                  <a:srgbClr val="333333"/>
                </a:solidFill>
              </a:rPr>
              <a:t> → entity/</a:t>
            </a:r>
            <a:r>
              <a:rPr sz="1500" b="0" dirty="0" err="1">
                <a:solidFill>
                  <a:srgbClr val="333333"/>
                </a:solidFill>
              </a:rPr>
              <a:t>repository+seed</a:t>
            </a:r>
            <a:r>
              <a:rPr sz="1500" b="0" dirty="0">
                <a:solidFill>
                  <a:srgbClr val="333333"/>
                </a:solidFill>
              </a:rPr>
              <a:t> → API implementation → exception handling, tests &amp; </a:t>
            </a:r>
            <a:r>
              <a:rPr sz="1500" b="0" dirty="0" err="1">
                <a:solidFill>
                  <a:srgbClr val="333333"/>
                </a:solidFill>
              </a:rPr>
              <a:t>Docker</a:t>
            </a:r>
            <a:r>
              <a:rPr sz="1500" b="0" dirty="0">
                <a:solidFill>
                  <a:srgbClr val="333333"/>
                </a:solidFill>
              </a:rPr>
              <a:t> → finalize.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API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Contract-first OpenAPI 3.0.3 (policies-api.yaml); base path /api/v1; served live via Swagger UI and /v3/api-docs.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GET /policies — </a:t>
            </a:r>
            <a:r>
              <a:rPr sz="1500" b="0">
                <a:solidFill>
                  <a:srgbClr val="333333"/>
                </a:solidFill>
              </a:rPr>
              <a:t>paginated, sorted, multi-field filtered, free-text searchable; returns PagedPolicies (content, page, size, totalElements, totalPages).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GET /policies/{id} — </a:t>
            </a:r>
            <a:r>
              <a:rPr sz="1500" b="0">
                <a:solidFill>
                  <a:srgbClr val="333333"/>
                </a:solidFill>
              </a:rPr>
              <a:t>single policy by UUID; 404 when not found (PolicyNotFoundException).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PATCH /policies/flag — </a:t>
            </a:r>
            <a:r>
              <a:rPr sz="1500" b="0">
                <a:solidFill>
                  <a:srgbClr val="333333"/>
                </a:solidFill>
              </a:rPr>
              <a:t>bulk flag policies for review; returns flaggedCount and a message.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GET /policies/summary — </a:t>
            </a:r>
            <a:r>
              <a:rPr sz="1500" b="0">
                <a:solidFill>
                  <a:srgbClr val="333333"/>
                </a:solidFill>
              </a:rPr>
              <a:t>counts by status, total premium by line of business, and an expiring-soon count.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Filters — </a:t>
            </a:r>
            <a:r>
              <a:rPr sz="1500" b="0">
                <a:solidFill>
                  <a:srgbClr val="333333"/>
                </a:solidFill>
              </a:rPr>
              <a:t>status, lineOfBusiness, region, effectiveDateFrom/To, search; enums accept display values (status=Active, lineOfBusiness=A&amp;H).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Standard ErrorResponse model (timestamp, status, error, message, path); documented 400 / 404 / 503 responses.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AI Working Journal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0">
                <a:solidFill>
                  <a:srgbClr val="333333"/>
                </a:solidFill>
              </a:rPr>
              <a:t>Built end-to-end with AI assistance under explicit project rules in .claude/rules (architecture, code-style, logging, testing); ai-journal.md records each step and trade-off.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Scaffolding — </a:t>
            </a:r>
            <a:r>
              <a:rPr sz="1500" b="0">
                <a:solidFill>
                  <a:srgbClr val="333333"/>
                </a:solidFill>
              </a:rPr>
              <a:t>Spring Boot 3.4.5 / Java 21 Maven project, layered package skeleton, Flyway baseline migration.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Contract-first — </a:t>
            </a:r>
            <a:r>
              <a:rPr sz="1500" b="0">
                <a:solidFill>
                  <a:srgbClr val="333333"/>
                </a:solidFill>
              </a:rPr>
              <a:t>authored the OpenAPI contract, then aligned migration, JPA entity, domain model and DTOs to the full 14-field Policy schema.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Persistence — </a:t>
            </a:r>
            <a:r>
              <a:rPr sz="1500" b="0">
                <a:solidFill>
                  <a:srgbClr val="333333"/>
                </a:solidFill>
              </a:rPr>
              <a:t>PolicyEntity + repository (JpaSpecificationExecutor); seeder split into PolicySampleDataFactory for SRP and complexity &lt; 4 (EnumMap over switches).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Filtering &amp; service — </a:t>
            </a:r>
            <a:r>
              <a:rPr sz="1500" b="0">
                <a:solidFill>
                  <a:srgbClr val="333333"/>
                </a:solidFill>
              </a:rPr>
              <a:t>framework-free PolicySearchCriteria, null-safe PolicySpecification, service layer with EntityToDomain mapper.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Global exception handling — </a:t>
            </a:r>
            <a:r>
              <a:rPr sz="1500" b="0">
                <a:solidFill>
                  <a:srgbClr val="333333"/>
                </a:solidFill>
              </a:rPr>
              <a:t>@RestControllerAdvice maps NotFound→404, validation→400, catch-all→500; SLF4J parameterized logs (method/path/correlationId), no sensitive data.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Key decisions &amp; follow-ups — </a:t>
            </a:r>
            <a:r>
              <a:rPr sz="1500" b="0">
                <a:solidFill>
                  <a:srgbClr val="333333"/>
                </a:solidFill>
              </a:rPr>
              <a:t>pinned Spring Boot 3.4.5, stored-vs-display enums, Lombok/Byte Buddy overrides for newer JDKs; open: correlation-ID filter, 503 mapping, @WebMvcTest.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3840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Two-tier strategy per .claude/rules/testing.md — </a:t>
            </a:r>
            <a:r>
              <a:rPr sz="1500" b="0">
                <a:solidFill>
                  <a:srgbClr val="333333"/>
                </a:solidFill>
              </a:rPr>
              <a:t>unit tests for service / mappers / specification plus database integration tests; 32 @Test cases across 7 classes.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Unit (JUnit 5 + Mockito) — </a:t>
            </a:r>
            <a:r>
              <a:rPr sz="1500" b="0">
                <a:solidFill>
                  <a:srgbClr val="333333"/>
                </a:solidFill>
              </a:rPr>
              <a:t>PolicyServiceImplTest (6), PolicySpecificationTest (10), GlobalExceptionHandlerTest (6), DomainToResponseDtoTest (2), EntityToDomainTest (1).</a:t>
            </a:r>
          </a:p>
          <a:p>
            <a:pPr marL="742950" indent="-28575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7A7A7A"/>
              </a:buClr>
              <a:buFont typeface="Arial"/>
              <a:buChar char="–"/>
            </a:pPr>
            <a:r>
              <a:rPr sz="1350" b="0">
                <a:solidFill>
                  <a:srgbClr val="333333"/>
                </a:solidFill>
              </a:rPr>
              <a:t>Happy + failure paths, AAA pattern, repositories and Criteria API mocked; runnable without Docker.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Integration (Testcontainers) — </a:t>
            </a:r>
            <a:r>
              <a:rPr sz="1500" b="0">
                <a:solidFill>
                  <a:srgbClr val="333333"/>
                </a:solidFill>
              </a:rPr>
              <a:t>PolicySpecificationIntegrationTest (6) spins up a real PostgreSQL via @ServiceConnection to validate filtering and search against a live DB.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Conventions — </a:t>
            </a:r>
            <a:r>
              <a:rPr sz="1500" b="0">
                <a:solidFill>
                  <a:srgbClr val="333333"/>
                </a:solidFill>
              </a:rPr>
              <a:t>naming nameOfTheTest_whatIsTested_outcome; JUnit assertions throughout.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Execution — </a:t>
            </a:r>
            <a:r>
              <a:rPr sz="1500" b="0">
                <a:solidFill>
                  <a:srgbClr val="333333"/>
                </a:solidFill>
              </a:rPr>
              <a:t>./mvnw test runs the full suite (integration needs Docker); -Dtest=... targets the unit-only set.</a:t>
            </a:r>
          </a:p>
          <a:p>
            <a:pPr marL="274320" indent="-27432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buClr>
                <a:srgbClr val="6A2C91"/>
              </a:buClr>
              <a:buFont typeface="Arial"/>
              <a:buChar char="•"/>
            </a:pPr>
            <a:r>
              <a:rPr sz="1500" b="1">
                <a:solidFill>
                  <a:srgbClr val="333333"/>
                </a:solidFill>
              </a:rPr>
              <a:t>Build robustness — </a:t>
            </a:r>
            <a:r>
              <a:rPr sz="1500" b="0">
                <a:solidFill>
                  <a:srgbClr val="333333"/>
                </a:solidFill>
              </a:rPr>
              <a:t>Byte Buddy and Lombok versions overridden so Mockito mocking and annotation processing work on newer JDKs.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26862671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812</Words>
  <Application>Microsoft Office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Madhu</cp:lastModifiedBy>
  <cp:revision>4</cp:revision>
  <dcterms:created xsi:type="dcterms:W3CDTF">2013-01-27T09:14:16Z</dcterms:created>
  <dcterms:modified xsi:type="dcterms:W3CDTF">2026-06-09T11:16:59Z</dcterms:modified>
  <cp:category/>
</cp:coreProperties>
</file>